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7"/>
  </p:notesMasterIdLst>
  <p:sldIdLst>
    <p:sldId id="256" r:id="rId2"/>
    <p:sldId id="259" r:id="rId3"/>
    <p:sldId id="262" r:id="rId4"/>
    <p:sldId id="263" r:id="rId5"/>
    <p:sldId id="268" r:id="rId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8"/>
    </p:embeddedFont>
    <p:embeddedFont>
      <p:font typeface="Epilogue" panose="020B0604020202020204" charset="0"/>
      <p:regular r:id="rId9"/>
      <p:bold r:id="rId10"/>
      <p:italic r:id="rId11"/>
      <p:boldItalic r:id="rId12"/>
    </p:embeddedFont>
    <p:embeddedFont>
      <p:font typeface="Lexend Mega Black" panose="020B0604020202020204" charset="0"/>
      <p:bold r:id="rId13"/>
    </p:embeddedFont>
    <p:embeddedFont>
      <p:font typeface="Nunito Light" pitchFamily="2" charset="0"/>
      <p:regular r:id="rId14"/>
      <p:italic r:id="rId15"/>
    </p:embeddedFont>
    <p:embeddedFont>
      <p:font typeface="OCR A Extended" panose="02010509020102010303" pitchFamily="50" charset="0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</p:embeddedFont>
    <p:embeddedFont>
      <p:font typeface="Russo One" panose="020B060402020202020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885FA9-B13C-41BC-B786-F26ED949F8E7}">
  <a:tblStyle styleId="{7E885FA9-B13C-41BC-B786-F26ED949F8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61DF3E-3002-407B-A6F7-1C3D4894FB8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41" autoAdjust="0"/>
    <p:restoredTop sz="94660"/>
  </p:normalViewPr>
  <p:slideViewPr>
    <p:cSldViewPr snapToGrid="0">
      <p:cViewPr>
        <p:scale>
          <a:sx n="100" d="100"/>
          <a:sy n="100" d="100"/>
        </p:scale>
        <p:origin x="74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latin typeface="OCR A Extended" panose="02010509020102010303" pitchFamily="50" charset="0"/>
              </a:rPr>
              <a:t>IDEAL</a:t>
            </a:r>
            <a:r>
              <a:rPr lang="en-US" b="1" baseline="0" dirty="0">
                <a:latin typeface="OCR A Extended" panose="02010509020102010303" pitchFamily="50" charset="0"/>
              </a:rPr>
              <a:t> BLOOD PRESSURE (mmHg)</a:t>
            </a:r>
            <a:endParaRPr lang="en-US" b="1" dirty="0">
              <a:latin typeface="OCR A Extended" panose="02010509020102010303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Below Normal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42-40DF-8D9A-9B8640E7C7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42-40DF-8D9A-9B8640E7C7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Elevated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42-40DF-8D9A-9B8640E7C7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Hypertension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42-40DF-8D9A-9B8640E7C7E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Hypertension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51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42-40DF-8D9A-9B8640E7C7E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Crisis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Systolic </c:v>
                </c:pt>
                <c:pt idx="1">
                  <c:v>Diastolic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190</c:v>
                </c:pt>
                <c:pt idx="1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C42-40DF-8D9A-9B8640E7C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87434767"/>
        <c:axId val="1587437167"/>
      </c:barChart>
      <c:catAx>
        <c:axId val="1587434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1587437167"/>
        <c:crosses val="autoZero"/>
        <c:auto val="1"/>
        <c:lblAlgn val="ctr"/>
        <c:lblOffset val="100"/>
        <c:noMultiLvlLbl val="0"/>
      </c:catAx>
      <c:valAx>
        <c:axId val="1587437167"/>
        <c:scaling>
          <c:orientation val="minMax"/>
          <c:max val="250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1587434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3ec76704b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3ec76704b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712464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5376450" y="186925"/>
              <a:ext cx="3487225" cy="186900"/>
              <a:chOff x="5376450" y="186925"/>
              <a:chExt cx="3487225" cy="1869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209964" y="18692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576667" y="186925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7943369" y="18692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10072" y="186925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676775" y="18692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376450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743153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109856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6476558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843261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280375" y="4769500"/>
              <a:ext cx="3487225" cy="186900"/>
              <a:chOff x="280375" y="4769500"/>
              <a:chExt cx="3487225" cy="186900"/>
            </a:xfrm>
          </p:grpSpPr>
          <p:sp>
            <p:nvSpPr>
              <p:cNvPr id="24" name="Google Shape;24;p2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64" name="Google Shape;64;p4"/>
          <p:cNvGrpSpPr/>
          <p:nvPr/>
        </p:nvGrpSpPr>
        <p:grpSpPr>
          <a:xfrm rot="10800000"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 flipH="1">
              <a:off x="647400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936638" y="1383750"/>
            <a:ext cx="3750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1"/>
          </p:nvPr>
        </p:nvSpPr>
        <p:spPr>
          <a:xfrm>
            <a:off x="936638" y="1956450"/>
            <a:ext cx="3750300" cy="18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Epilogue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pic" idx="2"/>
          </p:nvPr>
        </p:nvSpPr>
        <p:spPr>
          <a:xfrm>
            <a:off x="5093776" y="540000"/>
            <a:ext cx="31137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4" name="Google Shape;84;p7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85" name="Google Shape;85;p7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 flipH="1">
              <a:off x="647400" y="186925"/>
              <a:ext cx="186900" cy="18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91" name="Google Shape;91;p8"/>
          <p:cNvGrpSpPr/>
          <p:nvPr/>
        </p:nvGrpSpPr>
        <p:grpSpPr>
          <a:xfrm rot="10800000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92" name="Google Shape;92;p8"/>
            <p:cNvGrpSpPr/>
            <p:nvPr/>
          </p:nvGrpSpPr>
          <p:grpSpPr>
            <a:xfrm flipH="1">
              <a:off x="280300" y="186475"/>
              <a:ext cx="553603" cy="186900"/>
              <a:chOff x="3213997" y="4769500"/>
              <a:chExt cx="553603" cy="186900"/>
            </a:xfrm>
          </p:grpSpPr>
          <p:sp>
            <p:nvSpPr>
              <p:cNvPr id="93" name="Google Shape;93;p8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5" name="Google Shape;95;p8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96" name="Google Shape;96;p8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9"/>
          <p:cNvGrpSpPr/>
          <p:nvPr/>
        </p:nvGrpSpPr>
        <p:grpSpPr>
          <a:xfrm rot="10800000" flipH="1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104" name="Google Shape;104;p9"/>
            <p:cNvGrpSpPr/>
            <p:nvPr/>
          </p:nvGrpSpPr>
          <p:grpSpPr>
            <a:xfrm flipH="1">
              <a:off x="280300" y="186475"/>
              <a:ext cx="553603" cy="186900"/>
              <a:chOff x="3213997" y="4769500"/>
              <a:chExt cx="553603" cy="186900"/>
            </a:xfrm>
          </p:grpSpPr>
          <p:sp>
            <p:nvSpPr>
              <p:cNvPr id="105" name="Google Shape;105;p9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07" name="Google Shape;107;p9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108" name="Google Shape;108;p9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9" name="Google Shape;109;p9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0" name="Google Shape;110;p9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1" name="Google Shape;111;p9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1"/>
          </p:nvPr>
        </p:nvSpPr>
        <p:spPr>
          <a:xfrm>
            <a:off x="720000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2"/>
          </p:nvPr>
        </p:nvSpPr>
        <p:spPr>
          <a:xfrm>
            <a:off x="3437848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3"/>
          </p:nvPr>
        </p:nvSpPr>
        <p:spPr>
          <a:xfrm>
            <a:off x="6155700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4"/>
          </p:nvPr>
        </p:nvSpPr>
        <p:spPr>
          <a:xfrm>
            <a:off x="720000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5"/>
          </p:nvPr>
        </p:nvSpPr>
        <p:spPr>
          <a:xfrm>
            <a:off x="3437852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subTitle" idx="6"/>
          </p:nvPr>
        </p:nvSpPr>
        <p:spPr>
          <a:xfrm>
            <a:off x="6155700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1" name="Google Shape;201;p18"/>
          <p:cNvGrpSpPr/>
          <p:nvPr/>
        </p:nvGrpSpPr>
        <p:grpSpPr>
          <a:xfrm>
            <a:off x="280375" y="186925"/>
            <a:ext cx="8583125" cy="186900"/>
            <a:chOff x="280375" y="186925"/>
            <a:chExt cx="8583125" cy="186900"/>
          </a:xfrm>
        </p:grpSpPr>
        <p:sp>
          <p:nvSpPr>
            <p:cNvPr id="202" name="Google Shape;202;p18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 flipH="1">
              <a:off x="8676600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1"/>
          </p:nvPr>
        </p:nvSpPr>
        <p:spPr>
          <a:xfrm>
            <a:off x="1481825" y="1672700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2"/>
          </p:nvPr>
        </p:nvSpPr>
        <p:spPr>
          <a:xfrm>
            <a:off x="5460778" y="1672700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3"/>
          </p:nvPr>
        </p:nvSpPr>
        <p:spPr>
          <a:xfrm>
            <a:off x="1481825" y="3561875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4"/>
          </p:nvPr>
        </p:nvSpPr>
        <p:spPr>
          <a:xfrm>
            <a:off x="5460778" y="3561875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subTitle" idx="5"/>
          </p:nvPr>
        </p:nvSpPr>
        <p:spPr>
          <a:xfrm>
            <a:off x="1481825" y="137935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6"/>
          </p:nvPr>
        </p:nvSpPr>
        <p:spPr>
          <a:xfrm>
            <a:off x="1481825" y="326860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7"/>
          </p:nvPr>
        </p:nvSpPr>
        <p:spPr>
          <a:xfrm>
            <a:off x="5460750" y="137935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8"/>
          </p:nvPr>
        </p:nvSpPr>
        <p:spPr>
          <a:xfrm>
            <a:off x="5460750" y="326860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 flipH="1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215" name="Google Shape;215;p19"/>
            <p:cNvGrpSpPr/>
            <p:nvPr/>
          </p:nvGrpSpPr>
          <p:grpSpPr>
            <a:xfrm>
              <a:off x="280300" y="186475"/>
              <a:ext cx="1297219" cy="186900"/>
              <a:chOff x="280300" y="186475"/>
              <a:chExt cx="1297219" cy="186900"/>
            </a:xfrm>
          </p:grpSpPr>
          <p:grpSp>
            <p:nvGrpSpPr>
              <p:cNvPr id="216" name="Google Shape;216;p19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217" name="Google Shape;217;p19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18" name="Google Shape;218;p19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19" name="Google Shape;219;p19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220" name="Google Shape;220;p19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21" name="Google Shape;221;p19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22" name="Google Shape;222;p19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223" name="Google Shape;223;p19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5"/>
          <p:cNvGrpSpPr/>
          <p:nvPr/>
        </p:nvGrpSpPr>
        <p:grpSpPr>
          <a:xfrm>
            <a:off x="2828413" y="186925"/>
            <a:ext cx="3487225" cy="4769475"/>
            <a:chOff x="2828413" y="186925"/>
            <a:chExt cx="3487225" cy="4769475"/>
          </a:xfrm>
        </p:grpSpPr>
        <p:grpSp>
          <p:nvGrpSpPr>
            <p:cNvPr id="281" name="Google Shape;281;p25"/>
            <p:cNvGrpSpPr/>
            <p:nvPr/>
          </p:nvGrpSpPr>
          <p:grpSpPr>
            <a:xfrm>
              <a:off x="2828413" y="186925"/>
              <a:ext cx="3487225" cy="186900"/>
              <a:chOff x="5376450" y="186925"/>
              <a:chExt cx="3487225" cy="186900"/>
            </a:xfrm>
          </p:grpSpPr>
          <p:sp>
            <p:nvSpPr>
              <p:cNvPr id="282" name="Google Shape;282;p25"/>
              <p:cNvSpPr/>
              <p:nvPr/>
            </p:nvSpPr>
            <p:spPr>
              <a:xfrm>
                <a:off x="7209964" y="18692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3" name="Google Shape;283;p25"/>
              <p:cNvSpPr/>
              <p:nvPr/>
            </p:nvSpPr>
            <p:spPr>
              <a:xfrm>
                <a:off x="7576667" y="186925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4" name="Google Shape;284;p25"/>
              <p:cNvSpPr/>
              <p:nvPr/>
            </p:nvSpPr>
            <p:spPr>
              <a:xfrm>
                <a:off x="7943369" y="18692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5" name="Google Shape;285;p25"/>
              <p:cNvSpPr/>
              <p:nvPr/>
            </p:nvSpPr>
            <p:spPr>
              <a:xfrm>
                <a:off x="8310072" y="186925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8676775" y="18692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5376450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5743153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6109856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6476558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6843261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2" name="Google Shape;292;p25"/>
            <p:cNvGrpSpPr/>
            <p:nvPr/>
          </p:nvGrpSpPr>
          <p:grpSpPr>
            <a:xfrm>
              <a:off x="2828413" y="4769500"/>
              <a:ext cx="3487225" cy="186900"/>
              <a:chOff x="280375" y="4769500"/>
              <a:chExt cx="3487225" cy="186900"/>
            </a:xfrm>
          </p:grpSpPr>
          <p:sp>
            <p:nvSpPr>
              <p:cNvPr id="293" name="Google Shape;293;p25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7" name="Google Shape;297;p25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8" name="Google Shape;298;p25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9" name="Google Shape;299;p25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6"/>
          <p:cNvGrpSpPr/>
          <p:nvPr/>
        </p:nvGrpSpPr>
        <p:grpSpPr>
          <a:xfrm>
            <a:off x="280300" y="186472"/>
            <a:ext cx="8584025" cy="4769794"/>
            <a:chOff x="280300" y="186472"/>
            <a:chExt cx="8584025" cy="4769794"/>
          </a:xfrm>
        </p:grpSpPr>
        <p:grpSp>
          <p:nvGrpSpPr>
            <p:cNvPr id="305" name="Google Shape;305;p26"/>
            <p:cNvGrpSpPr/>
            <p:nvPr/>
          </p:nvGrpSpPr>
          <p:grpSpPr>
            <a:xfrm rot="-5400000">
              <a:off x="8122265" y="741631"/>
              <a:ext cx="1297219" cy="186900"/>
              <a:chOff x="280300" y="186475"/>
              <a:chExt cx="1297219" cy="186900"/>
            </a:xfrm>
          </p:grpSpPr>
          <p:grpSp>
            <p:nvGrpSpPr>
              <p:cNvPr id="306" name="Google Shape;306;p26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07" name="Google Shape;307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8" name="Google Shape;308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09" name="Google Shape;309;p26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0" name="Google Shape;310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1" name="Google Shape;311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312" name="Google Shape;312;p26"/>
            <p:cNvGrpSpPr/>
            <p:nvPr/>
          </p:nvGrpSpPr>
          <p:grpSpPr>
            <a:xfrm rot="-5400000" flipH="1">
              <a:off x="-274860" y="4214206"/>
              <a:ext cx="1297219" cy="186900"/>
              <a:chOff x="280300" y="186475"/>
              <a:chExt cx="1297219" cy="186900"/>
            </a:xfrm>
          </p:grpSpPr>
          <p:grpSp>
            <p:nvGrpSpPr>
              <p:cNvPr id="313" name="Google Shape;313;p26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4" name="Google Shape;314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5" name="Google Shape;315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16" name="Google Shape;316;p26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7" name="Google Shape;317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8" name="Google Shape;318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4" r:id="rId8"/>
    <p:sldLayoutId id="2147483665" r:id="rId9"/>
    <p:sldLayoutId id="2147483668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>
            <a:spLocks noGrp="1"/>
          </p:cNvSpPr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pc="300" dirty="0">
                <a:latin typeface="OCR A Extended" panose="02010509020102010303" pitchFamily="50" charset="0"/>
                <a:sym typeface="Lexend Mega Black"/>
              </a:rPr>
              <a:t>SPHYGOMANOMETER </a:t>
            </a:r>
            <a:br>
              <a:rPr lang="en" spc="300" dirty="0">
                <a:latin typeface="OCR A Extended" panose="02010509020102010303" pitchFamily="50" charset="0"/>
                <a:sym typeface="Lexend Mega Black"/>
              </a:rPr>
            </a:br>
            <a:r>
              <a:rPr lang="en" b="1" spc="300" dirty="0">
                <a:latin typeface="OCR A Extended" panose="02010509020102010303" pitchFamily="50" charset="0"/>
                <a:sym typeface="Lexend Mega Black"/>
              </a:rPr>
              <a:t>WORKINGS</a:t>
            </a:r>
            <a:endParaRPr b="1" spc="300" dirty="0">
              <a:latin typeface="OCR A Extended" panose="02010509020102010303" pitchFamily="50" charset="0"/>
            </a:endParaRPr>
          </a:p>
        </p:txBody>
      </p:sp>
      <p:sp>
        <p:nvSpPr>
          <p:cNvPr id="330" name="Google Shape;330;p30"/>
          <p:cNvSpPr txBox="1">
            <a:spLocks noGrp="1"/>
          </p:cNvSpPr>
          <p:nvPr>
            <p:ph type="subTitle" idx="1"/>
          </p:nvPr>
        </p:nvSpPr>
        <p:spPr>
          <a:xfrm>
            <a:off x="713225" y="3712464"/>
            <a:ext cx="2496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 Thomas Jos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title"/>
          </p:nvPr>
        </p:nvSpPr>
        <p:spPr>
          <a:xfrm>
            <a:off x="936638" y="1383750"/>
            <a:ext cx="3750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OCR A Extended" panose="02010509020102010303" pitchFamily="50" charset="0"/>
              </a:rPr>
              <a:t>PARTS</a:t>
            </a:r>
            <a:endParaRPr sz="4800" b="1" dirty="0">
              <a:latin typeface="OCR A Extended" panose="02010509020102010303" pitchFamily="50" charset="0"/>
            </a:endParaRPr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xfrm>
            <a:off x="936638" y="1956450"/>
            <a:ext cx="3750300" cy="2086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ts val="1100"/>
            </a:pP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Cuff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This is wrapped around the patient's upper arm and inflated to constrict the blood flow.</a:t>
            </a:r>
          </a:p>
          <a:p>
            <a:pPr marL="171450" indent="-171450">
              <a:buSzPts val="1100"/>
            </a:pPr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Gauge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This measures the pressure in the cuff</a:t>
            </a:r>
          </a:p>
          <a:p>
            <a:pPr marL="457200" lvl="1" indent="0" algn="l">
              <a:buSzPts val="110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Aneroid: Uses a dial and needle.</a:t>
            </a:r>
          </a:p>
          <a:p>
            <a:pPr marL="457200" lvl="1" indent="0" algn="l">
              <a:buSzPts val="1100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Digital: Uses an electronic display.</a:t>
            </a:r>
          </a:p>
          <a:p>
            <a:pPr marL="171450" indent="-171450">
              <a:buSzPts val="1100"/>
            </a:pPr>
            <a:r>
              <a:rPr lang="en-US" sz="14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Bulb and Valve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Used to inflate and deflate the cuff manually (in the case of aneroid sphygmomanometers).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Placeholder 4" descr="A blood pressure cuff and a tonometer&#10;&#10;Description automatically generated">
            <a:extLst>
              <a:ext uri="{FF2B5EF4-FFF2-40B4-BE49-F238E27FC236}">
                <a16:creationId xmlns:a16="http://schemas.microsoft.com/office/drawing/2014/main" id="{02736576-3885-A85C-EF84-B71ED3B8F52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160" t="-36296" r="1956" b="-38505"/>
          <a:stretch/>
        </p:blipFill>
        <p:spPr>
          <a:xfrm>
            <a:off x="5093776" y="540000"/>
            <a:ext cx="3113700" cy="4063500"/>
          </a:xfrm>
        </p:spPr>
      </p:pic>
      <p:sp>
        <p:nvSpPr>
          <p:cNvPr id="9" name="Google Shape;1038;p51">
            <a:extLst>
              <a:ext uri="{FF2B5EF4-FFF2-40B4-BE49-F238E27FC236}">
                <a16:creationId xmlns:a16="http://schemas.microsoft.com/office/drawing/2014/main" id="{DC62D123-F55B-33C8-3C44-37BDF9AB79C4}"/>
              </a:ext>
            </a:extLst>
          </p:cNvPr>
          <p:cNvSpPr/>
          <p:nvPr/>
        </p:nvSpPr>
        <p:spPr>
          <a:xfrm>
            <a:off x="7394550" y="2012391"/>
            <a:ext cx="186900" cy="186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39;p51">
            <a:extLst>
              <a:ext uri="{FF2B5EF4-FFF2-40B4-BE49-F238E27FC236}">
                <a16:creationId xmlns:a16="http://schemas.microsoft.com/office/drawing/2014/main" id="{0AA7FFF8-853D-9A14-6C10-7750218E0D17}"/>
              </a:ext>
            </a:extLst>
          </p:cNvPr>
          <p:cNvSpPr/>
          <p:nvPr/>
        </p:nvSpPr>
        <p:spPr>
          <a:xfrm>
            <a:off x="6617637" y="1956450"/>
            <a:ext cx="186900" cy="1869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042;p51">
            <a:extLst>
              <a:ext uri="{FF2B5EF4-FFF2-40B4-BE49-F238E27FC236}">
                <a16:creationId xmlns:a16="http://schemas.microsoft.com/office/drawing/2014/main" id="{0B9DC5A0-0E83-4361-7A54-66F08F10A9C0}"/>
              </a:ext>
            </a:extLst>
          </p:cNvPr>
          <p:cNvSpPr/>
          <p:nvPr/>
        </p:nvSpPr>
        <p:spPr>
          <a:xfrm>
            <a:off x="7758598" y="3066492"/>
            <a:ext cx="186900" cy="1869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Google Shape;1158;p55">
            <a:extLst>
              <a:ext uri="{FF2B5EF4-FFF2-40B4-BE49-F238E27FC236}">
                <a16:creationId xmlns:a16="http://schemas.microsoft.com/office/drawing/2014/main" id="{1BBCD6FE-7803-545E-AEFB-3895C55E32B5}"/>
              </a:ext>
            </a:extLst>
          </p:cNvPr>
          <p:cNvSpPr/>
          <p:nvPr/>
        </p:nvSpPr>
        <p:spPr>
          <a:xfrm>
            <a:off x="3612486" y="365588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FBFBF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>
            <a:spLocks noGrp="1"/>
          </p:cNvSpPr>
          <p:nvPr>
            <p:ph type="title"/>
          </p:nvPr>
        </p:nvSpPr>
        <p:spPr>
          <a:xfrm>
            <a:off x="720000" y="276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OCR A Extended" panose="02010509020102010303" pitchFamily="50" charset="0"/>
              </a:rPr>
              <a:t>TYPES OF SPHYGOMANOMETERS</a:t>
            </a:r>
            <a:endParaRPr sz="3600" b="1" dirty="0">
              <a:latin typeface="OCR A Extended" panose="02010509020102010303" pitchFamily="50" charset="0"/>
            </a:endParaRPr>
          </a:p>
        </p:txBody>
      </p:sp>
      <p:sp>
        <p:nvSpPr>
          <p:cNvPr id="405" name="Google Shape;405;p36"/>
          <p:cNvSpPr txBox="1">
            <a:spLocks noGrp="1"/>
          </p:cNvSpPr>
          <p:nvPr>
            <p:ph type="subTitle" idx="4"/>
          </p:nvPr>
        </p:nvSpPr>
        <p:spPr>
          <a:xfrm>
            <a:off x="720000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MERCURY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06" name="Google Shape;406;p36"/>
          <p:cNvSpPr txBox="1">
            <a:spLocks noGrp="1"/>
          </p:cNvSpPr>
          <p:nvPr>
            <p:ph type="subTitle" idx="5"/>
          </p:nvPr>
        </p:nvSpPr>
        <p:spPr>
          <a:xfrm>
            <a:off x="3437852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ANEROID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07" name="Google Shape;407;p36"/>
          <p:cNvSpPr txBox="1">
            <a:spLocks noGrp="1"/>
          </p:cNvSpPr>
          <p:nvPr>
            <p:ph type="subTitle" idx="1"/>
          </p:nvPr>
        </p:nvSpPr>
        <p:spPr>
          <a:xfrm>
            <a:off x="720000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and most accurate type of blood pressure monitor.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Consists of an inflatable cuff connected to a column of mercury,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Rises and falls with the pressure.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Medical professionals still prefer this device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 precision.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Phased out due to toxic Mercury</a:t>
            </a:r>
          </a:p>
        </p:txBody>
      </p:sp>
      <p:sp>
        <p:nvSpPr>
          <p:cNvPr id="408" name="Google Shape;408;p36"/>
          <p:cNvSpPr txBox="1">
            <a:spLocks noGrp="1"/>
          </p:cNvSpPr>
          <p:nvPr>
            <p:ph type="subTitle" idx="2"/>
          </p:nvPr>
        </p:nvSpPr>
        <p:spPr>
          <a:xfrm>
            <a:off x="3437848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Commonly used in healthcare settings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Portable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Reliable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Cost-effective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a dial and mechanical pressure system to give readings.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Lightweight and more affordable than mercury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 regular calibration to maintain accuracy.</a:t>
            </a:r>
          </a:p>
        </p:txBody>
      </p:sp>
      <p:sp>
        <p:nvSpPr>
          <p:cNvPr id="409" name="Google Shape;409;p36"/>
          <p:cNvSpPr txBox="1">
            <a:spLocks noGrp="1"/>
          </p:cNvSpPr>
          <p:nvPr>
            <p:ph type="subTitle" idx="3"/>
          </p:nvPr>
        </p:nvSpPr>
        <p:spPr>
          <a:xfrm>
            <a:off x="6155700" y="2651765"/>
            <a:ext cx="2268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Popular due to their convenience for home monitoring.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Ise electronic sensors and an LCD display to provide the blood pressure reading.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Automatic, inflating and deflating with a simple button press, others are semi-automatic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May be less precise than mercury or aneroid devices, especially if not used correctly</a:t>
            </a:r>
          </a:p>
        </p:txBody>
      </p:sp>
      <p:sp>
        <p:nvSpPr>
          <p:cNvPr id="410" name="Google Shape;410;p36"/>
          <p:cNvSpPr txBox="1">
            <a:spLocks noGrp="1"/>
          </p:cNvSpPr>
          <p:nvPr>
            <p:ph type="subTitle" idx="6"/>
          </p:nvPr>
        </p:nvSpPr>
        <p:spPr>
          <a:xfrm>
            <a:off x="6155700" y="2148850"/>
            <a:ext cx="226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DIGITAL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35" name="Google Shape;435;p36"/>
          <p:cNvSpPr/>
          <p:nvPr/>
        </p:nvSpPr>
        <p:spPr>
          <a:xfrm flipH="1">
            <a:off x="1351150" y="1376725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6"/>
          <p:cNvSpPr/>
          <p:nvPr/>
        </p:nvSpPr>
        <p:spPr>
          <a:xfrm flipH="1">
            <a:off x="6818925" y="1376725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36"/>
          <p:cNvSpPr/>
          <p:nvPr/>
        </p:nvSpPr>
        <p:spPr>
          <a:xfrm flipH="1">
            <a:off x="4102925" y="1376725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027;p51">
            <a:extLst>
              <a:ext uri="{FF2B5EF4-FFF2-40B4-BE49-F238E27FC236}">
                <a16:creationId xmlns:a16="http://schemas.microsoft.com/office/drawing/2014/main" id="{BF249114-406F-905B-1AD1-4893CFBEC073}"/>
              </a:ext>
            </a:extLst>
          </p:cNvPr>
          <p:cNvSpPr/>
          <p:nvPr/>
        </p:nvSpPr>
        <p:spPr>
          <a:xfrm>
            <a:off x="823450" y="1563625"/>
            <a:ext cx="527700" cy="527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1028;p51">
            <a:extLst>
              <a:ext uri="{FF2B5EF4-FFF2-40B4-BE49-F238E27FC236}">
                <a16:creationId xmlns:a16="http://schemas.microsoft.com/office/drawing/2014/main" id="{16569FFB-442A-CF76-CE4A-BA5782DB9658}"/>
              </a:ext>
            </a:extLst>
          </p:cNvPr>
          <p:cNvSpPr/>
          <p:nvPr/>
        </p:nvSpPr>
        <p:spPr>
          <a:xfrm>
            <a:off x="3575225" y="1563625"/>
            <a:ext cx="527700" cy="527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029;p51">
            <a:extLst>
              <a:ext uri="{FF2B5EF4-FFF2-40B4-BE49-F238E27FC236}">
                <a16:creationId xmlns:a16="http://schemas.microsoft.com/office/drawing/2014/main" id="{3372F448-4A8A-B4F0-F493-7ACA488CF888}"/>
              </a:ext>
            </a:extLst>
          </p:cNvPr>
          <p:cNvSpPr/>
          <p:nvPr/>
        </p:nvSpPr>
        <p:spPr>
          <a:xfrm>
            <a:off x="6291225" y="1563625"/>
            <a:ext cx="527700" cy="527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 txBox="1">
            <a:spLocks noGrp="1"/>
          </p:cNvSpPr>
          <p:nvPr>
            <p:ph type="subTitle" idx="6"/>
          </p:nvPr>
        </p:nvSpPr>
        <p:spPr>
          <a:xfrm>
            <a:off x="1481825" y="326860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SYSTOLIC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43" name="Google Shape;443;p37"/>
          <p:cNvSpPr txBox="1">
            <a:spLocks noGrp="1"/>
          </p:cNvSpPr>
          <p:nvPr>
            <p:ph type="title"/>
          </p:nvPr>
        </p:nvSpPr>
        <p:spPr>
          <a:xfrm>
            <a:off x="732150" y="2299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OCR A Extended" panose="02010509020102010303" pitchFamily="50" charset="0"/>
              </a:rPr>
              <a:t>PROCESS OF MEASUREMENT</a:t>
            </a:r>
            <a:endParaRPr sz="3600" b="1" dirty="0">
              <a:latin typeface="OCR A Extended" panose="02010509020102010303" pitchFamily="50" charset="0"/>
            </a:endParaRPr>
          </a:p>
        </p:txBody>
      </p:sp>
      <p:sp>
        <p:nvSpPr>
          <p:cNvPr id="444" name="Google Shape;444;p37"/>
          <p:cNvSpPr txBox="1">
            <a:spLocks noGrp="1"/>
          </p:cNvSpPr>
          <p:nvPr>
            <p:ph type="subTitle" idx="1"/>
          </p:nvPr>
        </p:nvSpPr>
        <p:spPr>
          <a:xfrm>
            <a:off x="1481825" y="1672700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Place cuff 1-2 inches above the antecubital fossa/ elbow pit</a:t>
            </a:r>
          </a:p>
        </p:txBody>
      </p:sp>
      <p:sp>
        <p:nvSpPr>
          <p:cNvPr id="445" name="Google Shape;445;p37"/>
          <p:cNvSpPr txBox="1">
            <a:spLocks noGrp="1"/>
          </p:cNvSpPr>
          <p:nvPr>
            <p:ph type="subTitle" idx="2"/>
          </p:nvPr>
        </p:nvSpPr>
        <p:spPr>
          <a:xfrm>
            <a:off x="5460778" y="1672700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Pump cuff to about 160 mmHg (or 30mmHg above normal reading)or higher, release air about 3mmHG/s by using the valve</a:t>
            </a:r>
          </a:p>
        </p:txBody>
      </p:sp>
      <p:sp>
        <p:nvSpPr>
          <p:cNvPr id="446" name="Google Shape;446;p37"/>
          <p:cNvSpPr txBox="1">
            <a:spLocks noGrp="1"/>
          </p:cNvSpPr>
          <p:nvPr>
            <p:ph type="subTitle" idx="3"/>
          </p:nvPr>
        </p:nvSpPr>
        <p:spPr>
          <a:xfrm>
            <a:off x="1481825" y="3561875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you the first knocking sound (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Kortokoff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sounds), look at dial: this is the systolic pressure,</a:t>
            </a:r>
          </a:p>
        </p:txBody>
      </p:sp>
      <p:sp>
        <p:nvSpPr>
          <p:cNvPr id="447" name="Google Shape;447;p37"/>
          <p:cNvSpPr txBox="1">
            <a:spLocks noGrp="1"/>
          </p:cNvSpPr>
          <p:nvPr>
            <p:ph type="subTitle" idx="4"/>
          </p:nvPr>
        </p:nvSpPr>
        <p:spPr>
          <a:xfrm>
            <a:off x="5460778" y="3561875"/>
            <a:ext cx="29754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knocking sound disappears, the pressure that appears is the diastolic pressure</a:t>
            </a:r>
          </a:p>
        </p:txBody>
      </p:sp>
      <p:sp>
        <p:nvSpPr>
          <p:cNvPr id="448" name="Google Shape;448;p37"/>
          <p:cNvSpPr txBox="1">
            <a:spLocks noGrp="1"/>
          </p:cNvSpPr>
          <p:nvPr>
            <p:ph type="subTitle" idx="5"/>
          </p:nvPr>
        </p:nvSpPr>
        <p:spPr>
          <a:xfrm>
            <a:off x="1481825" y="137935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POSITION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49" name="Google Shape;449;p37"/>
          <p:cNvSpPr txBox="1">
            <a:spLocks noGrp="1"/>
          </p:cNvSpPr>
          <p:nvPr>
            <p:ph type="subTitle" idx="7"/>
          </p:nvPr>
        </p:nvSpPr>
        <p:spPr>
          <a:xfrm>
            <a:off x="5460750" y="137935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INFLATION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50" name="Google Shape;450;p37"/>
          <p:cNvSpPr txBox="1">
            <a:spLocks noGrp="1"/>
          </p:cNvSpPr>
          <p:nvPr>
            <p:ph type="subTitle" idx="8"/>
          </p:nvPr>
        </p:nvSpPr>
        <p:spPr>
          <a:xfrm>
            <a:off x="5460750" y="3268600"/>
            <a:ext cx="2975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OCR A Extended" panose="02010509020102010303" pitchFamily="50" charset="0"/>
              </a:rPr>
              <a:t>DIASTOLIC</a:t>
            </a:r>
            <a:endParaRPr sz="2800" b="1" dirty="0">
              <a:latin typeface="OCR A Extended" panose="02010509020102010303" pitchFamily="50" charset="0"/>
            </a:endParaRPr>
          </a:p>
        </p:txBody>
      </p:sp>
      <p:sp>
        <p:nvSpPr>
          <p:cNvPr id="481" name="Google Shape;481;p37"/>
          <p:cNvSpPr/>
          <p:nvPr/>
        </p:nvSpPr>
        <p:spPr>
          <a:xfrm flipH="1">
            <a:off x="1236675" y="1205000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p37"/>
          <p:cNvSpPr/>
          <p:nvPr/>
        </p:nvSpPr>
        <p:spPr>
          <a:xfrm flipH="1">
            <a:off x="5125125" y="1205000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7"/>
          <p:cNvSpPr/>
          <p:nvPr/>
        </p:nvSpPr>
        <p:spPr>
          <a:xfrm flipH="1">
            <a:off x="1236675" y="3123325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37"/>
          <p:cNvSpPr/>
          <p:nvPr/>
        </p:nvSpPr>
        <p:spPr>
          <a:xfrm flipH="1">
            <a:off x="5125125" y="3123325"/>
            <a:ext cx="186900" cy="186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5730;p64">
            <a:extLst>
              <a:ext uri="{FF2B5EF4-FFF2-40B4-BE49-F238E27FC236}">
                <a16:creationId xmlns:a16="http://schemas.microsoft.com/office/drawing/2014/main" id="{D4D5B437-95C6-480E-2030-4456B3F1794B}"/>
              </a:ext>
            </a:extLst>
          </p:cNvPr>
          <p:cNvSpPr/>
          <p:nvPr/>
        </p:nvSpPr>
        <p:spPr>
          <a:xfrm>
            <a:off x="4615849" y="1393510"/>
            <a:ext cx="512062" cy="510679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5778;p64">
            <a:extLst>
              <a:ext uri="{FF2B5EF4-FFF2-40B4-BE49-F238E27FC236}">
                <a16:creationId xmlns:a16="http://schemas.microsoft.com/office/drawing/2014/main" id="{FE72F63A-5236-604C-6E9B-C17D9AF3DBD0}"/>
              </a:ext>
            </a:extLst>
          </p:cNvPr>
          <p:cNvGrpSpPr/>
          <p:nvPr/>
        </p:nvGrpSpPr>
        <p:grpSpPr>
          <a:xfrm>
            <a:off x="701320" y="3295473"/>
            <a:ext cx="506163" cy="594997"/>
            <a:chOff x="-27691025" y="3175300"/>
            <a:chExt cx="251275" cy="295375"/>
          </a:xfrm>
          <a:solidFill>
            <a:schemeClr val="accent2"/>
          </a:solidFill>
        </p:grpSpPr>
        <p:sp>
          <p:nvSpPr>
            <p:cNvPr id="8" name="Google Shape;5779;p64">
              <a:extLst>
                <a:ext uri="{FF2B5EF4-FFF2-40B4-BE49-F238E27FC236}">
                  <a16:creationId xmlns:a16="http://schemas.microsoft.com/office/drawing/2014/main" id="{C647DBD5-700F-430D-BB07-29556C8BD34A}"/>
                </a:ext>
              </a:extLst>
            </p:cNvPr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80;p64">
              <a:extLst>
                <a:ext uri="{FF2B5EF4-FFF2-40B4-BE49-F238E27FC236}">
                  <a16:creationId xmlns:a16="http://schemas.microsoft.com/office/drawing/2014/main" id="{532233BE-26F7-9977-DCC3-23E69F2E5567}"/>
                </a:ext>
              </a:extLst>
            </p:cNvPr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781;p64">
              <a:extLst>
                <a:ext uri="{FF2B5EF4-FFF2-40B4-BE49-F238E27FC236}">
                  <a16:creationId xmlns:a16="http://schemas.microsoft.com/office/drawing/2014/main" id="{A91145E3-4E60-F6EE-7558-936A6DEDC5B2}"/>
                </a:ext>
              </a:extLst>
            </p:cNvPr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782;p64">
              <a:extLst>
                <a:ext uri="{FF2B5EF4-FFF2-40B4-BE49-F238E27FC236}">
                  <a16:creationId xmlns:a16="http://schemas.microsoft.com/office/drawing/2014/main" id="{4E215375-3525-44C1-EBF5-F1ED0F9530FB}"/>
                </a:ext>
              </a:extLst>
            </p:cNvPr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5875;p64">
            <a:extLst>
              <a:ext uri="{FF2B5EF4-FFF2-40B4-BE49-F238E27FC236}">
                <a16:creationId xmlns:a16="http://schemas.microsoft.com/office/drawing/2014/main" id="{AB3D0AF6-D57D-7DD3-332C-B173761EF26B}"/>
              </a:ext>
            </a:extLst>
          </p:cNvPr>
          <p:cNvGrpSpPr/>
          <p:nvPr/>
        </p:nvGrpSpPr>
        <p:grpSpPr>
          <a:xfrm>
            <a:off x="4615849" y="3319493"/>
            <a:ext cx="510679" cy="510679"/>
            <a:chOff x="-23245675" y="3148525"/>
            <a:chExt cx="296150" cy="296150"/>
          </a:xfrm>
          <a:solidFill>
            <a:schemeClr val="accent1"/>
          </a:solidFill>
        </p:grpSpPr>
        <p:sp>
          <p:nvSpPr>
            <p:cNvPr id="13" name="Google Shape;5876;p64">
              <a:extLst>
                <a:ext uri="{FF2B5EF4-FFF2-40B4-BE49-F238E27FC236}">
                  <a16:creationId xmlns:a16="http://schemas.microsoft.com/office/drawing/2014/main" id="{39B61FE3-1437-00BA-C38D-40B2E8F02FB7}"/>
                </a:ext>
              </a:extLst>
            </p:cNvPr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877;p64">
              <a:extLst>
                <a:ext uri="{FF2B5EF4-FFF2-40B4-BE49-F238E27FC236}">
                  <a16:creationId xmlns:a16="http://schemas.microsoft.com/office/drawing/2014/main" id="{7DEA69FB-82F4-7554-994F-44DF06690988}"/>
                </a:ext>
              </a:extLst>
            </p:cNvPr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78;p64">
              <a:extLst>
                <a:ext uri="{FF2B5EF4-FFF2-40B4-BE49-F238E27FC236}">
                  <a16:creationId xmlns:a16="http://schemas.microsoft.com/office/drawing/2014/main" id="{4C3D78D4-BF96-B4E1-B2C9-8EC85E085306}"/>
                </a:ext>
              </a:extLst>
            </p:cNvPr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5864;p64">
            <a:extLst>
              <a:ext uri="{FF2B5EF4-FFF2-40B4-BE49-F238E27FC236}">
                <a16:creationId xmlns:a16="http://schemas.microsoft.com/office/drawing/2014/main" id="{DF8EA6A7-3FF4-BBC7-F615-3B130C1013C3}"/>
              </a:ext>
            </a:extLst>
          </p:cNvPr>
          <p:cNvGrpSpPr/>
          <p:nvPr/>
        </p:nvGrpSpPr>
        <p:grpSpPr>
          <a:xfrm>
            <a:off x="726581" y="1367656"/>
            <a:ext cx="507964" cy="512005"/>
            <a:chOff x="-25094250" y="3176075"/>
            <a:chExt cx="295400" cy="297750"/>
          </a:xfrm>
          <a:solidFill>
            <a:schemeClr val="tx2"/>
          </a:solidFill>
        </p:grpSpPr>
        <p:sp>
          <p:nvSpPr>
            <p:cNvPr id="17" name="Google Shape;5865;p64">
              <a:extLst>
                <a:ext uri="{FF2B5EF4-FFF2-40B4-BE49-F238E27FC236}">
                  <a16:creationId xmlns:a16="http://schemas.microsoft.com/office/drawing/2014/main" id="{46CBC39D-8020-36FC-D2BB-622E661F9E35}"/>
                </a:ext>
              </a:extLst>
            </p:cNvPr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66;p64">
              <a:extLst>
                <a:ext uri="{FF2B5EF4-FFF2-40B4-BE49-F238E27FC236}">
                  <a16:creationId xmlns:a16="http://schemas.microsoft.com/office/drawing/2014/main" id="{57468E79-282E-27F9-5DA5-12F4AFB54D68}"/>
                </a:ext>
              </a:extLst>
            </p:cNvPr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67;p64">
              <a:extLst>
                <a:ext uri="{FF2B5EF4-FFF2-40B4-BE49-F238E27FC236}">
                  <a16:creationId xmlns:a16="http://schemas.microsoft.com/office/drawing/2014/main" id="{89460A8C-13F5-BECB-8B34-9A738635FE3B}"/>
                </a:ext>
              </a:extLst>
            </p:cNvPr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"/>
          <p:cNvSpPr txBox="1">
            <a:spLocks noGrp="1"/>
          </p:cNvSpPr>
          <p:nvPr>
            <p:ph type="title"/>
          </p:nvPr>
        </p:nvSpPr>
        <p:spPr>
          <a:xfrm>
            <a:off x="720000" y="1694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OCR A Extended" panose="02010509020102010303" pitchFamily="50" charset="0"/>
              </a:rPr>
              <a:t>BLOOD PRESSURE LEVELS</a:t>
            </a:r>
            <a:endParaRPr sz="3600" b="1" dirty="0">
              <a:latin typeface="OCR A Extended" panose="02010509020102010303" pitchFamily="50" charset="0"/>
            </a:endParaRPr>
          </a:p>
        </p:txBody>
      </p:sp>
      <p:sp>
        <p:nvSpPr>
          <p:cNvPr id="535" name="Google Shape;535;p42"/>
          <p:cNvSpPr txBox="1">
            <a:spLocks noGrp="1"/>
          </p:cNvSpPr>
          <p:nvPr>
            <p:ph type="title" idx="4294967295"/>
          </p:nvPr>
        </p:nvSpPr>
        <p:spPr>
          <a:xfrm>
            <a:off x="1084176" y="2856307"/>
            <a:ext cx="18423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CR A Extended" panose="02010509020102010303" pitchFamily="50" charset="0"/>
              </a:rPr>
              <a:t>DIASTOLIC</a:t>
            </a:r>
            <a:endParaRPr sz="2000" b="1" dirty="0">
              <a:latin typeface="OCR A Extended" panose="02010509020102010303" pitchFamily="50" charset="0"/>
            </a:endParaRPr>
          </a:p>
        </p:txBody>
      </p:sp>
      <p:sp>
        <p:nvSpPr>
          <p:cNvPr id="537" name="Google Shape;537;p42"/>
          <p:cNvSpPr txBox="1">
            <a:spLocks noGrp="1"/>
          </p:cNvSpPr>
          <p:nvPr>
            <p:ph type="title" idx="4294967295"/>
          </p:nvPr>
        </p:nvSpPr>
        <p:spPr>
          <a:xfrm>
            <a:off x="1084176" y="1347650"/>
            <a:ext cx="18423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OCR A Extended" panose="02010509020102010303" pitchFamily="50" charset="0"/>
              </a:rPr>
              <a:t>SYSTOLIC</a:t>
            </a:r>
            <a:endParaRPr sz="2000" b="1" dirty="0">
              <a:latin typeface="OCR A Extended" panose="02010509020102010303" pitchFamily="50" charset="0"/>
            </a:endParaRPr>
          </a:p>
        </p:txBody>
      </p:sp>
      <p:sp>
        <p:nvSpPr>
          <p:cNvPr id="543" name="Google Shape;543;p42"/>
          <p:cNvSpPr txBox="1"/>
          <p:nvPr/>
        </p:nvSpPr>
        <p:spPr>
          <a:xfrm>
            <a:off x="1084176" y="3081071"/>
            <a:ext cx="1842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Epilogue"/>
              </a:rPr>
              <a:t>Blood Pressure measured when heart is on rest, usually lower</a:t>
            </a:r>
          </a:p>
        </p:txBody>
      </p:sp>
      <p:sp>
        <p:nvSpPr>
          <p:cNvPr id="545" name="Google Shape;545;p42"/>
          <p:cNvSpPr txBox="1"/>
          <p:nvPr/>
        </p:nvSpPr>
        <p:spPr>
          <a:xfrm>
            <a:off x="1084176" y="1572414"/>
            <a:ext cx="1842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Epilogue"/>
              </a:rPr>
              <a:t>Blood pressure when the heart beats, usually higher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2CBB0E6-A41E-A368-5938-D2A9239B3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6874"/>
              </p:ext>
            </p:extLst>
          </p:nvPr>
        </p:nvGraphicFramePr>
        <p:xfrm>
          <a:off x="3488141" y="969689"/>
          <a:ext cx="5147563" cy="3431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ART Goals Meeting by Slidesgo">
  <a:themeElements>
    <a:clrScheme name="Simple Light">
      <a:dk1>
        <a:srgbClr val="232323"/>
      </a:dk1>
      <a:lt1>
        <a:srgbClr val="FBFBFB"/>
      </a:lt1>
      <a:dk2>
        <a:srgbClr val="3280AE"/>
      </a:dk2>
      <a:lt2>
        <a:srgbClr val="E45A35"/>
      </a:lt2>
      <a:accent1>
        <a:srgbClr val="E9B545"/>
      </a:accent1>
      <a:accent2>
        <a:srgbClr val="61B6A1"/>
      </a:accent2>
      <a:accent3>
        <a:srgbClr val="8CB847"/>
      </a:accent3>
      <a:accent4>
        <a:srgbClr val="F1F1F1"/>
      </a:accent4>
      <a:accent5>
        <a:srgbClr val="E0E0E0"/>
      </a:accent5>
      <a:accent6>
        <a:srgbClr val="838383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</Words>
  <Application>Microsoft Office PowerPoint</Application>
  <PresentationFormat>On-screen Show (16:9)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Lexend Mega Black</vt:lpstr>
      <vt:lpstr>Open Sans</vt:lpstr>
      <vt:lpstr>Nunito Light</vt:lpstr>
      <vt:lpstr>OCR A Extended</vt:lpstr>
      <vt:lpstr>Arial</vt:lpstr>
      <vt:lpstr>Roboto</vt:lpstr>
      <vt:lpstr>Epilogue</vt:lpstr>
      <vt:lpstr>Bebas Neue</vt:lpstr>
      <vt:lpstr>Epilogue Light</vt:lpstr>
      <vt:lpstr>Russo One</vt:lpstr>
      <vt:lpstr>SMART Goals Meeting by Slidesgo</vt:lpstr>
      <vt:lpstr>SPHYGOMANOMETER  WORKINGS</vt:lpstr>
      <vt:lpstr>PARTS</vt:lpstr>
      <vt:lpstr>TYPES OF SPHYGOMANOMETERS</vt:lpstr>
      <vt:lpstr>PROCESS OF MEASUREMENT</vt:lpstr>
      <vt:lpstr>BLOOD PRESSURE LEVELS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 Jos</dc:creator>
  <cp:lastModifiedBy>Thomas Jos</cp:lastModifiedBy>
  <cp:revision>1</cp:revision>
  <dcterms:modified xsi:type="dcterms:W3CDTF">2025-01-21T02:24:20Z</dcterms:modified>
</cp:coreProperties>
</file>